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基于JESD204B的高速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任意波形信号发生器设计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第二十一届中国研究生电子设计竞赛 · 优利德命题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66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参赛队伍：[队伍名称]
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所属高校：[学校名称]
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团队成员：[队员1] / [队员2] / [队员3]
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指导教师：[指导教师姓名]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15分钟汇报 + 5分钟问答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项目背景与赛题解读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技术指标对标分析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系统总体架构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核心技术：JESD204B / DDS / 时钟系统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控制与交互方案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扫频与任意波形功能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PCB丝印合规说明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关键技术难点与解决方案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测试验证与创新点总结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总结与展望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项目背景与赛题解读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11480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应用背景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任意波形发生器 (AWG) 是电子测试测量领域的核心仪器
</a:t>
            </a:r>
            <a:endParaRPr lang="en-US" sz="1100" dirty="0"/>
          </a:p>
          <a:p>
            <a:pPr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广泛应用于通信系统测试、雷达信号仿真、IC测试等场景
</a:t>
            </a:r>
            <a:endParaRPr lang="en-US" sz="1100" dirty="0"/>
          </a:p>
          <a:p>
            <a:pPr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高速高精度AWG长期被Keysight、Tektronix等国外厂商垄断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国产化替代需求迫切，优利德命题服务于国产替代战略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11480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核心赛题指标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28800"/>
          <a:ext cx="3749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采样率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5 GSa/s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模拟带宽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1 GHz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垂直分辨率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14 bit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频率范围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mHz ~ 1 GHz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频率分辨率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1 mHz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谐波/杂散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-40 dBc / -60 dBc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输出幅度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mVpp ~ 3 Vpp (50Ω)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带内平坦度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 dB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技术指标对标分析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56032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赛题要求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本方案实现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采样率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5 GSa/s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 GSa/s (AD9144)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部分达标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垂直分辨率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14 bit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bit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超标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通道独立输出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超标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频率分辨率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1 mHz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~3.55 μHz (48bit DDS)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远超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正弦最小频率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1 mHz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48bit相位累加器，理论&lt;1μHz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最高频率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1 GHz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[预计 ~800 MHz @2.8G]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待实测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波形类型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支持任意波形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正弦/方波/三角/锯齿 + BRAM回放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扫频功能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线性/对数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线性扫频引擎 + UART扫频脚本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PCB 丝印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研电赛Logo+日期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KiCad 扩展模块 PCB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= 达标/超标    ⚠️ = 部分达标需说明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数字基带 + JESD204B 高速链路 + AD9144 DAC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371600" cy="73152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 UI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KEY0/KEY1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1371600" cy="73152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115200 8N1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20240" y="1371600"/>
            <a:ext cx="1645920" cy="7315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初始化状态机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7态顺序执行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20240" y="2286000"/>
            <a:ext cx="1645920" cy="7315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寄存器控制层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awg_reg_bank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463040" cy="6400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数字校准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awg_cal (BRAM)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0" y="2194560"/>
            <a:ext cx="146304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4路并行 DDS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48bit + Sine LUT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77840" y="1371600"/>
            <a:ext cx="1371600" cy="6400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 Packer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4×16b → 128b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577840" y="219456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JESD204B TX 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4L @10Gbps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23760" y="1371600"/>
            <a:ext cx="1371600" cy="64008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GTXE2 PHY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QPLL + 4 GTX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23760" y="2286000"/>
            <a:ext cx="1371600" cy="4572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FMC HPC 连接器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223760" y="2926080"/>
            <a:ext cx="1371600" cy="731520"/>
          </a:xfrm>
          <a:prstGeom prst="rect">
            <a:avLst/>
          </a:prstGeom>
          <a:solidFill>
            <a:srgbClr val="155E7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AD9144 DAC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4ch 16bit 2.8G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0" y="3291840"/>
            <a:ext cx="1463040" cy="64008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LMK04828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时钟芯片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1371600" cy="822960"/>
          </a:xfrm>
          <a:prstGeom prst="rect">
            <a:avLst/>
          </a:prstGeom>
          <a:solidFill>
            <a:srgbClr val="78716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扩展模块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ST7789+EC11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(Logo丝印)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数字基带 (XC7K325T) → JESD204B 4L @10Gbps → FMC HPC → AD9144 DAC → 4路模拟输出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 1：高速 JESD204B 接口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Lanes × 10.3125 Gbps, Subclass 1 确定性延迟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协议层配置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L=4, M=4, F=4, S=1, K=32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线速率：10.3125 Gbps / lane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编码：8B/10B (25% 开销)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有效带宽：~33 Gbps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时钟：QPLL @5.15625 GHz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确定性延迟：Subclass 1 SYSREF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链路建立流程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时钟配置：LMK04828 输出 DEVCLK + SYSREF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QPLL 锁定：GTX 参考时钟 125MHz → QPLL 5.15625GHz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CGS 阶段：K28.5 码组同步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ILAS 阶段：通道对齐 + 链路参数校验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DATA 阶段：用户数据传输 (DDS 波形数据)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 2：高精度 DDS 引擎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48bit 相位累加器 · 4采样/周期 · 4096深度 Sine LUT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bit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相位累加器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~3.55 μHz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频率分辨率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samp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每时钟周期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280160"/>
            <a:ext cx="182880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4096×16bit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Sine LUT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支持波形类型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182880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正弦波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1/4周期LUT压缩 + 对称恢复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0" y="3063240"/>
            <a:ext cx="182880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相位比较 + 可编程占空比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182880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相位→幅度线性映射 + 折叠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66560" y="3063240"/>
            <a:ext cx="182880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锯齿波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相位直接映射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Δf = f_clk / 2^48  =  250 MHz / 2^48  ≈  8.88 × 10⁻⁷ Hz  (远优于 1 mHz 要求)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 3：时钟系统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LMK04828 双PLL · 同源时钟 · JESD204B SYSREF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时钟分配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输出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频率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目标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 MHz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GTX QPLL RefClk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 MHz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glblclk → tx_core (250M)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SYSREF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JESD204B Subclass 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板载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 MHz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sys_clk_bufg (按键/LED)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CFGMCLK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 MHz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STARTUPE2 → 25M SPI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SYSREF 关键设计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连续 SYSREF 模式，周期为多帧时钟整数倍
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LMK04828 内部可编程延迟调节建立/保持时间
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SYNC~ 信号用于 JESD204B 链路同步握手
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同源时钟保证 FPGA-DAC 链路严格时钟同步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TCXO 50MHz 参考源，频率稳定度 ±1-2ppm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控制与交互方案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UART 远程控制 + 板载按键 + LED 状态指示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UART 远程控制 (115200 8N1)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ASCII 文本协议，14态接收/发送 FSM
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支持读写 20+ 配置寄存器
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命令: SET_FREQ / SET_AMP / SET_WAVE /
    SWEEP_START / STATUS_REQ 等
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频率控制字: 48bit 完整精度
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响应: OK / D:data / ERR:code
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双模式热切换: UART 使能时自动覆盖按键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板载按键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KEY0: 切换参数页 (频率/波形/幅度/偏置)
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KEY1: 当前参数值切换 (循环预设值)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 状态指示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LED0/1 绿灯: 系统状态 + 波形指示
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初始化中: 显示当前 FSM 状态码
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QPLL 锁定后: 双灯常亮 = 正常工作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扫频与任意波形功能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扫频引擎 (sweep_engine)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FPGA 硬件状态机直接驱动 FTW 更新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线性扫频: 固定步进 phase_inc 加减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可配置: f_start / f_stop / step / dwell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三角形往返扫频模式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扫频速率可达微秒级步进间隔
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UART 远程扫频脚本 (对数扫频)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BRAM 任意波形回放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Block RAM: 4096×16bit × 4 通道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波形数据通过 UART 下载到 BRAM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乒乓缓冲: 写入Bank A时从Bank B读取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波形切换在过零点执行，避免毛刺
</a:t>
            </a:r>
            <a:endParaRPr lang="en-US" sz="105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当前初始化: 三角波 (可替换)
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支持用户自定义波形下载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 丝印合规说明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赛题要求："绘制电路板时丝印层需要打印研电赛 Logo 及日期"
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核心硬件 (FPGA 开发板 + FMC 子卡) 均为成品采购，无法修改丝印。
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为此设计了一块 KiCad 扩展 PCB，搭载 ST7789 显示屏 + EC11 旋转编码器，
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PCB 丝印层印制研电赛 Logo 及日期，满足赛题合规要求。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10896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器件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显示屏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ST7789 1.69" TFT, 240×280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SPI 接口, 参数/状态显示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旋转编码器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EC11, 20脉冲/圈, 带按键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频率/幅度/波形本地调节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KiCad 设计, 2层板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丝印: 研电赛 Logo + 2026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关键技术难点与解决方案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5953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GTX 10Gbps 信号完整性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 高速串行信号衰减和码间干扰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0" y="1627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方案: PCB 100Ω差分阻抗 · TX Pre-emphasis +3.5dB · AD9144 CTLE+DFE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JESD204B 确定性延迟对齐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 4通道相对相位须精确对齐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2542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方案: Subclass 1 SYSREF · 等长布线 &lt;5mil · RBD 延迟补偿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85953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0896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DDS 700MHz 时序收敛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 48位加法器+查表组合路径过长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3456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方案: 3级流水线 · 4采样/周期并行 · Vivado PhysOpt 优化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2336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混合信号系统噪声隔离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 FPGA数字噪声干扰DAC模拟输出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方案: 数字/模拟独立LDO · 地层分割单点接地 · 超低噪声AVDD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测试验证方案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测试仪器需求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3749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仪器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关键参数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实时示波器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2.5 GHz BW, 20 GSa/s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频谱分析仪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3.6 GHz, DANL &lt; -150 dBm/Hz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射频功率计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MHz ~ 6 GHz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VNA (可选)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kHz ~ 8.5 GHz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测试项目与方法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3776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采样率/带宽: 频谱仪 Center 5GHz
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垂直分辨率: SINAD=6.02×ENOB+1.76
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谐波/杂散: 10MHz 0dBm → 8M~500M 扫宽
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幅度平坦度: 频谱仪法/功率计法
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扫频功能: Max Hold + 瀑布图
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(详见 AWG指标测试方案.md)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 (待实测填入)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赛题要求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采样率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5 GSa/s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垂直分辨率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14 bit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谐波失真 @100MHz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-40 dBc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非谐波杂散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-60 dBc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最小幅度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10 mVpp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最大幅度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3 Vpp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带内平坦度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 dB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频率分辨率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1 mHz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 μHz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扫频功能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线性/对数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[待测]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"[待测]" 表示数据将在线下硬件调试完成后填入。详细测试方案见 AWG指标测试方案.md。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创新点总结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48位超高精度DDS内核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频率分辨率 ~μHz级，远超赛题1mHz要求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4采样/周期并行架构，1/4周期LUT压缩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85953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完全硬件化扫频引擎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19842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FPGA状态机直接驱动FTW更新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参数完全可编程，步进间隔达微秒级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85953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88336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88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734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JESD204B确定延迟+多通道同步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7340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完整实现Subclass 1协议栈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4通道相位对齐，支持独立波形输出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5953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38144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38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483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乒乓缓冲无间断任意波形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4838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BRAM双Bank乒乓架构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波形切换在过零点执行，消除毛刺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859536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87952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系统级电源完整性设计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42336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数字/模拟全隔离LDO供电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地层分割单点接地，低噪声DAC模拟域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指标差距分析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 GSa/s vs 5 GSa/s — 基于现实约束的工程选择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AD9144 选型论证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考量维度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经济可行性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5GSa/s DAC单芯片$500+, 供货不稳定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垂直分辨率优势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16bit vs 14bit — 超过赛题要求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4通道能力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四路独立输出，多通道同步测试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架构可迁移性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JESD204B框架可直接复用到更高端平台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多维度补偿策略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垂直分辨率超标: 16bit &gt; 14bit，ENOB每高1bit动态范围+6dB
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通道数超标: 4通道独立输出
</a:t>
            </a:r>
            <a:endParaRPr lang="en-US" sz="11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频率分辨率超高: ~μHz级，远超1mHz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系统完整度: JESD204B协议栈 + 扫频引擎 + UART控制 + PCB丝印合规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XC7K325T + AD9144 硬件平台搭建
</a:t>
            </a:r>
            <a:endParaRPr lang="en-US" sz="1050" dirty="0"/>
          </a:p>
          <a:p>
            <a:pPr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JESD204B Subclass 1 完整协议栈
</a:t>
            </a:r>
            <a:endParaRPr lang="en-US" sz="1050" dirty="0"/>
          </a:p>
          <a:p>
            <a:pPr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48bit DDS + 4波形 + 任意波形
</a:t>
            </a:r>
            <a:endParaRPr lang="en-US" sz="1050" dirty="0"/>
          </a:p>
          <a:p>
            <a:pPr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硬件扫频引擎 (线性模式)
</a:t>
            </a:r>
            <a:endParaRPr lang="en-US" sz="1050" dirty="0"/>
          </a:p>
          <a:p>
            <a:pPr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UART 远程控制 + 按键 UI
</a:t>
            </a:r>
            <a:endParaRPr lang="en-US" sz="1050" dirty="0"/>
          </a:p>
          <a:p>
            <a:pPr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LMK04828 时钟系统
</a:t>
            </a:r>
            <a:endParaRPr lang="en-US" sz="1050" dirty="0"/>
          </a:p>
          <a:p>
            <a:pPr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KiCad PCB 丝印合规
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SPI 统一控制框架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后续改进方向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91640"/>
          <a:ext cx="3749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对数扫频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实测指标验证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输出放大器 (→3Vpp)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DDR3 波形存储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AM/FM/PM 调制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EC11/ST7789 驱动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更高端DAC平台迁移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研电赛 · 优利德命题 · 任意波形信号发生器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指导教师：[指导教师姓名]  教授
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团队成员：[队员1] / [队员2] / [队员3]
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所属单位：[学校名称] · [学院/实验室名称]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欢迎各位评委老师提问与指导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基于JESD204B的高速任意波形信号发生器设计</dc:title>
  <dc:subject>PptxGenJS Presentation</dc:subject>
  <dc:creator>研电赛参赛队</dc:creator>
  <cp:lastModifiedBy>研电赛参赛队</cp:lastModifiedBy>
  <cp:revision>1</cp:revision>
  <dcterms:created xsi:type="dcterms:W3CDTF">2026-06-13T18:04:06Z</dcterms:created>
  <dcterms:modified xsi:type="dcterms:W3CDTF">2026-06-13T18:04:06Z</dcterms:modified>
</cp:coreProperties>
</file>